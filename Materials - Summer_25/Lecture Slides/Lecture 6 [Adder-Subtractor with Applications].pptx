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Lexend Light"/>
      <p:regular r:id="rId41"/>
      <p:bold r:id="rId42"/>
    </p:embeddedFont>
    <p:embeddedFont>
      <p:font typeface="Lexend Medium"/>
      <p:regular r:id="rId43"/>
      <p:bold r:id="rId44"/>
    </p:embeddedFon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443B8C-68BD-4D94-8C5B-A7ED5BE2F9B1}">
  <a:tblStyle styleId="{58443B8C-68BD-4D94-8C5B-A7ED5BE2F9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exendLight-bold.fntdata"/><Relationship Id="rId41" Type="http://schemas.openxmlformats.org/officeDocument/2006/relationships/font" Target="fonts/LexendLight-regular.fntdata"/><Relationship Id="rId22" Type="http://schemas.openxmlformats.org/officeDocument/2006/relationships/slide" Target="slides/slide16.xml"/><Relationship Id="rId44" Type="http://schemas.openxmlformats.org/officeDocument/2006/relationships/font" Target="fonts/LexendMedium-bold.fntdata"/><Relationship Id="rId21" Type="http://schemas.openxmlformats.org/officeDocument/2006/relationships/slide" Target="slides/slide15.xml"/><Relationship Id="rId43" Type="http://schemas.openxmlformats.org/officeDocument/2006/relationships/font" Target="fonts/LexendMedium-regular.fntdata"/><Relationship Id="rId24" Type="http://schemas.openxmlformats.org/officeDocument/2006/relationships/slide" Target="slides/slide18.xml"/><Relationship Id="rId46" Type="http://schemas.openxmlformats.org/officeDocument/2006/relationships/font" Target="fonts/Lexend-bold.fntdata"/><Relationship Id="rId23" Type="http://schemas.openxmlformats.org/officeDocument/2006/relationships/slide" Target="slides/slide17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06c41cc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06c41cc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6c41cc5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06c41cc5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06c41cc5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06c41cc5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6c41cc5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06c41cc5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06c41cc5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06c41cc5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06c41cc5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06c41cc5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c41cc5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c41cc5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5cd0781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5cd0781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5cd0781e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5cd0781e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5cd0781e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5cd0781e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cd0781e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cd0781e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5cd0781e3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5cd0781e3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5cd0781e3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5cd0781e3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5cd0781e3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5cd0781e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65cf5ae00a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65cf5ae00a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65cf5ae00a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65cf5ae00a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5edb05e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5edb05e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70c71de3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70c71de3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5edb05e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65edb05e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5edb05e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5edb05e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5edb05e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5edb05e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65cd0781e3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65cd0781e3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5cf5ae00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5cf5ae00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5cf5ae00a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65cf5ae00a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5cf5ae00a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65cf5ae00a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5cf5ae00a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65cf5ae00a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65cf5ae00a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65cf5ae00a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65cf5ae00a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65cf5ae00a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65cf5ae00a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65cf5ae00a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65cf5ae00a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65cf5ae00a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5cf5ae00a_0_1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5cf5ae00a_0_1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85800" y="4572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6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Adder-Subtractor with Applications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7375" y="2732296"/>
            <a:ext cx="4709251" cy="16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8350" y="766838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combinational circuit that performs the addition of two bits is called a half-adder.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 bits are X and Y, we will get C (Carry) &amp; S (Sum)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X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C	 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" name="Google Shape;7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" name="Google Shape;80;p15"/>
          <p:cNvGrpSpPr/>
          <p:nvPr/>
        </p:nvGrpSpPr>
        <p:grpSpPr>
          <a:xfrm>
            <a:off x="2505075" y="2913675"/>
            <a:ext cx="4133850" cy="1466849"/>
            <a:chOff x="1584" y="2736"/>
            <a:chExt cx="2604" cy="924"/>
          </a:xfrm>
        </p:grpSpPr>
        <p:sp>
          <p:nvSpPr>
            <p:cNvPr id="81" name="Google Shape;81;p15"/>
            <p:cNvSpPr txBox="1"/>
            <p:nvPr/>
          </p:nvSpPr>
          <p:spPr>
            <a:xfrm>
              <a:off x="2424" y="2736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2496" y="283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Half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3" name="Google Shape;83;p15"/>
            <p:cNvCxnSpPr/>
            <p:nvPr/>
          </p:nvCxnSpPr>
          <p:spPr>
            <a:xfrm>
              <a:off x="1824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1824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3312" y="292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6" name="Google Shape;86;p15"/>
            <p:cNvCxnSpPr/>
            <p:nvPr/>
          </p:nvCxnSpPr>
          <p:spPr>
            <a:xfrm>
              <a:off x="3312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7" name="Google Shape;87;p15"/>
            <p:cNvSpPr txBox="1"/>
            <p:nvPr/>
          </p:nvSpPr>
          <p:spPr>
            <a:xfrm>
              <a:off x="1584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888" y="283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2544" y="336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28350" y="7668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truth table for all possible input combinations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0		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</a:t>
            </a: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0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 1			 1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u="sng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+ 0		    + 1</a:t>
            </a:r>
            <a:endParaRPr sz="2000" u="sng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	  0	 1 		  1	 0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5654125" y="211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{58443B8C-68BD-4D94-8C5B-A7ED5BE2F9B1}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28350" y="766838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 + XY' = X⊕Y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5" name="Google Shape;115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Half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684300" y="156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{58443B8C-68BD-4D94-8C5B-A7ED5BE2F9B1}</a:tableStyleId>
              </a:tblPr>
              <a:tblGrid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Google Shape;122;p17"/>
          <p:cNvSpPr txBox="1"/>
          <p:nvPr/>
        </p:nvSpPr>
        <p:spPr>
          <a:xfrm>
            <a:off x="3780575" y="1921250"/>
            <a:ext cx="51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Now, we draw the logic diagram.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421" y="2966401"/>
            <a:ext cx="4689628" cy="196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28350" y="902674"/>
            <a:ext cx="86307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Half-adder adds up only two bits.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To add two binary numbers, we need to add 3 bits (including the carry).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Need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(so called as it can be made from two half-adders).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3" name="Google Shape;133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2150" y="1939125"/>
            <a:ext cx="2679699" cy="1265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2505075" y="3417000"/>
            <a:ext cx="4133850" cy="1466849"/>
            <a:chOff x="2208" y="3072"/>
            <a:chExt cx="2604" cy="924"/>
          </a:xfrm>
        </p:grpSpPr>
        <p:sp>
          <p:nvSpPr>
            <p:cNvPr id="141" name="Google Shape;141;p18"/>
            <p:cNvSpPr txBox="1"/>
            <p:nvPr/>
          </p:nvSpPr>
          <p:spPr>
            <a:xfrm>
              <a:off x="3024" y="3072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3120" y="316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Full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Adder</a:t>
              </a:r>
              <a:endParaRPr i="0" sz="10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2448" y="321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4" name="Google Shape;144;p18"/>
            <p:cNvCxnSpPr/>
            <p:nvPr/>
          </p:nvCxnSpPr>
          <p:spPr>
            <a:xfrm>
              <a:off x="2448" y="340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5" name="Google Shape;145;p18"/>
            <p:cNvCxnSpPr/>
            <p:nvPr/>
          </p:nvCxnSpPr>
          <p:spPr>
            <a:xfrm>
              <a:off x="3936" y="326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6" name="Google Shape;146;p18"/>
            <p:cNvCxnSpPr/>
            <p:nvPr/>
          </p:nvCxnSpPr>
          <p:spPr>
            <a:xfrm>
              <a:off x="3936" y="355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7" name="Google Shape;147;p18"/>
            <p:cNvSpPr txBox="1"/>
            <p:nvPr/>
          </p:nvSpPr>
          <p:spPr>
            <a:xfrm>
              <a:off x="2208" y="3072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4512" y="3168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072" y="369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(X + Y + Z)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" name="Google Shape;150;p18"/>
            <p:cNvCxnSpPr/>
            <p:nvPr/>
          </p:nvCxnSpPr>
          <p:spPr>
            <a:xfrm>
              <a:off x="2448" y="3600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From the truth table, we find out the SOP to get the boolean function &amp; simplify it.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" name="Google Shape;159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0" name="Google Shape;160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19"/>
          <p:cNvGraphicFramePr/>
          <p:nvPr/>
        </p:nvGraphicFramePr>
        <p:xfrm>
          <a:off x="328350" y="184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{58443B8C-68BD-4D94-8C5B-A7ED5BE2F9B1}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Z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19"/>
          <p:cNvSpPr/>
          <p:nvPr/>
        </p:nvSpPr>
        <p:spPr>
          <a:xfrm>
            <a:off x="5783825" y="1567250"/>
            <a:ext cx="3360177" cy="126541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Note: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Z - carry in (to the current position)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</a:rPr>
              <a:t>C - carry out (to the next position) 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2946600" y="3022650"/>
            <a:ext cx="413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X'Y'Z + XYZ + X'YZ' + XY'Z'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28350" y="766838"/>
            <a:ext cx="86307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Simplifying,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 = X’YZ + XY’Z + XYZ’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Z (X’Y + XY’) + XY (Z + Z’)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Z (X ⊕ Y) + XY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 = X’Y’Z + X’YZ’ + XY’Z’ + XYZ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(Y’Z + YZ’) + X (Y’Z’ + YZ)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 (Y⊕ Z) + X (Y⊕ Z)’ [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(Y ⊕ Z) = 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X’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X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= X ⊕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 ⊕ Z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Circuit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93" name="Google Shape;19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Full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17509"/>
            <a:ext cx="9144000" cy="328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28350" y="430468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Full Adder made from two Half-Adders (+ OR gate).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9" name="Google Shape;20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It Is Called Full Adder?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59859"/>
            <a:ext cx="9144000" cy="328765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25798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896450" y="1100875"/>
            <a:ext cx="1734900" cy="2486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2"/>
          <p:cNvCxnSpPr>
            <a:stCxn id="207" idx="0"/>
            <a:endCxn id="216" idx="2"/>
          </p:cNvCxnSpPr>
          <p:nvPr/>
        </p:nvCxnSpPr>
        <p:spPr>
          <a:xfrm rot="10800000">
            <a:off x="3447300" y="3587088"/>
            <a:ext cx="11964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19" name="Google Shape;219;p22"/>
          <p:cNvCxnSpPr>
            <a:stCxn id="207" idx="0"/>
            <a:endCxn id="217" idx="2"/>
          </p:cNvCxnSpPr>
          <p:nvPr/>
        </p:nvCxnSpPr>
        <p:spPr>
          <a:xfrm flipH="1" rot="10800000">
            <a:off x="4643700" y="3587088"/>
            <a:ext cx="1120200" cy="71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/>
          <p:nvPr/>
        </p:nvCxnSpPr>
        <p:spPr>
          <a:xfrm flipH="1" rot="10800000">
            <a:off x="6206825" y="3768425"/>
            <a:ext cx="1023900" cy="667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28" name="Google Shape;22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29" name="Google Shape;22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328350" y="766838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 a circuit to add two 4-bit numbers together and a carry-in, to produce a 5-bit result: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3"/>
          <p:cNvGrpSpPr/>
          <p:nvPr/>
        </p:nvGrpSpPr>
        <p:grpSpPr>
          <a:xfrm>
            <a:off x="1933575" y="1550250"/>
            <a:ext cx="5062200" cy="2537600"/>
            <a:chOff x="1392" y="1872"/>
            <a:chExt cx="3324" cy="1692"/>
          </a:xfrm>
        </p:grpSpPr>
        <p:sp>
          <p:nvSpPr>
            <p:cNvPr id="237" name="Google Shape;237;p23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1392" y="25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3"/>
            <p:cNvCxnSpPr/>
            <p:nvPr/>
          </p:nvCxnSpPr>
          <p:spPr>
            <a:xfrm rot="10800000">
              <a:off x="1860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1" name="Google Shape;241;p23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2" name="Google Shape;242;p23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3" name="Google Shape;243;p23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4" name="Google Shape;244;p23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5" name="Google Shape;245;p23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6" name="Google Shape;246;p23"/>
            <p:cNvSpPr txBox="1"/>
            <p:nvPr/>
          </p:nvSpPr>
          <p:spPr>
            <a:xfrm>
              <a:off x="4416" y="26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3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3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3"/>
            <p:cNvSpPr txBox="1"/>
            <p:nvPr/>
          </p:nvSpPr>
          <p:spPr>
            <a:xfrm>
              <a:off x="2736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2928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3140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3"/>
            <p:cNvSpPr txBox="1"/>
            <p:nvPr/>
          </p:nvSpPr>
          <p:spPr>
            <a:xfrm>
              <a:off x="3312" y="326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5" name="Google Shape;255;p23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6" name="Google Shape;256;p23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7" name="Google Shape;257;p23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8" name="Google Shape;258;p23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59" name="Google Shape;259;p23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0" name="Google Shape;260;p23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1" name="Google Shape;261;p23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3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4" name="Google Shape;264;p23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5" name="Google Shape;265;p23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3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3"/>
          <p:cNvSpPr txBox="1"/>
          <p:nvPr/>
        </p:nvSpPr>
        <p:spPr>
          <a:xfrm>
            <a:off x="328350" y="4114853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5-bit result is sufficient because the largest result is: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+(1)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(11111)</a:t>
            </a:r>
            <a:r>
              <a:rPr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569500" y="3346675"/>
            <a:ext cx="2574508" cy="1227430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Black-box view of 4-bit parallel adder</a:t>
            </a:r>
            <a:endParaRPr sz="19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76" name="Google Shape;276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7" name="Google Shape;277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28350" y="7668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SSI design technique should not be used.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Truth table for 9 inputs very big, i.e. 29=512 entries: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4" name="Google Shape;284;p24"/>
          <p:cNvGraphicFramePr/>
          <p:nvPr/>
        </p:nvGraphicFramePr>
        <p:xfrm>
          <a:off x="1360750" y="159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{58443B8C-68BD-4D94-8C5B-A7ED5BE2F9B1}</a:tableStyleId>
              </a:tblPr>
              <a:tblGrid>
                <a:gridCol w="1284500"/>
                <a:gridCol w="1284500"/>
                <a:gridCol w="1284500"/>
                <a:gridCol w="1284500"/>
                <a:gridCol w="12845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baseline="-25000"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C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4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2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0 0 0 </a:t>
                      </a: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1 1 0 1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0 0 1 1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…</a:t>
                      </a:r>
                      <a:endParaRPr/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1 1 1 1</a:t>
                      </a:r>
                      <a:endParaRPr sz="11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24"/>
          <p:cNvSpPr txBox="1"/>
          <p:nvPr/>
        </p:nvSpPr>
        <p:spPr>
          <a:xfrm>
            <a:off x="328350" y="415228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Simplification very complicated as no. of input is 9 so 512(=2</a:t>
            </a:r>
            <a:r>
              <a:rPr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possible combination will be there in truth table!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93" name="Google Shape;293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4" name="Google Shape;294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328350" y="766838"/>
            <a:ext cx="86307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24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Alternative design possible.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242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ddition formula for each pair of bits (with carry in),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has the same function as a full adder.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i+1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S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X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⊕ Y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⊕ C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668425" y="315155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NB: Similar to FA equation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 = XY + (X⊕Y)Z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 = (X⊕Y)⊕Z</a:t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10" name="Google Shape;310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328350" y="766838"/>
            <a:ext cx="86307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Cascading 4 full adders via their carries, we get: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p26" title="4 Bit P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36" y="1351214"/>
            <a:ext cx="7364716" cy="287323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1736950" y="2111300"/>
            <a:ext cx="5862300" cy="1452600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468850" y="3520850"/>
            <a:ext cx="228600" cy="228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697450" y="34446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468850" y="3216050"/>
            <a:ext cx="228600" cy="228600"/>
          </a:xfrm>
          <a:prstGeom prst="rect">
            <a:avLst/>
          </a:prstGeom>
          <a:solidFill>
            <a:srgbClr val="0000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697450" y="3139850"/>
            <a:ext cx="91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328350" y="4267253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n-bit parallel adder requires n full- adders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1" name="Google Shape;331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2" name="Google Shape;332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328350" y="766838"/>
            <a:ext cx="8630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examples using 4-bit parallel adder as building blocks: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Adder cum Subtractor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16-Bit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273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BCD to excess 3 code converter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46" name="Google Shape;346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47" name="Google Shape;347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328350" y="766838"/>
            <a:ext cx="8630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Subtraction can be performed through addition using 2s-complement numbers.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we can design a circuit which can perform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both addition and subtraction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using a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4" name="Google Shape;354;p28"/>
          <p:cNvGrpSpPr/>
          <p:nvPr/>
        </p:nvGrpSpPr>
        <p:grpSpPr>
          <a:xfrm>
            <a:off x="3210506" y="2125625"/>
            <a:ext cx="5263234" cy="2622828"/>
            <a:chOff x="2160" y="1872"/>
            <a:chExt cx="3456" cy="1749"/>
          </a:xfrm>
        </p:grpSpPr>
        <p:sp>
          <p:nvSpPr>
            <p:cNvPr id="355" name="Google Shape;355;p28"/>
            <p:cNvSpPr txBox="1"/>
            <p:nvPr/>
          </p:nvSpPr>
          <p:spPr>
            <a:xfrm>
              <a:off x="2160" y="2400"/>
              <a:ext cx="21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28"/>
            <p:cNvSpPr txBox="1"/>
            <p:nvPr/>
          </p:nvSpPr>
          <p:spPr>
            <a:xfrm>
              <a:off x="2496" y="2496"/>
              <a:ext cx="15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4-bit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20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Parallel Adder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7" name="Google Shape;357;p28"/>
            <p:cNvCxnSpPr/>
            <p:nvPr/>
          </p:nvCxnSpPr>
          <p:spPr>
            <a:xfrm rot="5400000">
              <a:off x="2586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8" name="Google Shape;358;p28"/>
            <p:cNvCxnSpPr/>
            <p:nvPr/>
          </p:nvCxnSpPr>
          <p:spPr>
            <a:xfrm rot="10800000">
              <a:off x="4164" y="2736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9" name="Google Shape;359;p28"/>
            <p:cNvCxnSpPr/>
            <p:nvPr/>
          </p:nvCxnSpPr>
          <p:spPr>
            <a:xfrm rot="5400000">
              <a:off x="277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0" name="Google Shape;360;p28"/>
            <p:cNvCxnSpPr/>
            <p:nvPr/>
          </p:nvCxnSpPr>
          <p:spPr>
            <a:xfrm rot="5400000">
              <a:off x="3258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1" name="Google Shape;361;p28"/>
            <p:cNvCxnSpPr/>
            <p:nvPr/>
          </p:nvCxnSpPr>
          <p:spPr>
            <a:xfrm rot="5400000">
              <a:off x="3450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2" name="Google Shape;362;p28"/>
            <p:cNvSpPr txBox="1"/>
            <p:nvPr/>
          </p:nvSpPr>
          <p:spPr>
            <a:xfrm>
              <a:off x="4416" y="2640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S: control signal for add/subtract</a:t>
              </a:r>
              <a:endParaRPr b="1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3" name="Google Shape;363;p28"/>
            <p:cNvSpPr txBox="1"/>
            <p:nvPr/>
          </p:nvSpPr>
          <p:spPr>
            <a:xfrm>
              <a:off x="2544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8"/>
            <p:cNvSpPr txBox="1"/>
            <p:nvPr/>
          </p:nvSpPr>
          <p:spPr>
            <a:xfrm>
              <a:off x="273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8"/>
            <p:cNvSpPr txBox="1"/>
            <p:nvPr/>
          </p:nvSpPr>
          <p:spPr>
            <a:xfrm>
              <a:off x="321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8"/>
            <p:cNvSpPr txBox="1"/>
            <p:nvPr/>
          </p:nvSpPr>
          <p:spPr>
            <a:xfrm>
              <a:off x="3456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2172" y="3321"/>
              <a:ext cx="18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latin typeface="Lexend"/>
                  <a:ea typeface="Lexend"/>
                  <a:cs typeface="Lexend"/>
                  <a:sym typeface="Lexend"/>
                </a:rPr>
                <a:t>Result: either X+Y or X-Y</a:t>
              </a:r>
              <a:r>
                <a:rPr b="1" lang="en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b="1"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8" name="Google Shape;368;p28"/>
            <p:cNvCxnSpPr/>
            <p:nvPr/>
          </p:nvCxnSpPr>
          <p:spPr>
            <a:xfrm rot="5400000">
              <a:off x="2730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9" name="Google Shape;369;p28"/>
            <p:cNvCxnSpPr/>
            <p:nvPr/>
          </p:nvCxnSpPr>
          <p:spPr>
            <a:xfrm rot="5400000">
              <a:off x="2922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0" name="Google Shape;370;p28"/>
            <p:cNvCxnSpPr/>
            <p:nvPr/>
          </p:nvCxnSpPr>
          <p:spPr>
            <a:xfrm rot="5400000">
              <a:off x="3114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1" name="Google Shape;371;p28"/>
            <p:cNvCxnSpPr/>
            <p:nvPr/>
          </p:nvCxnSpPr>
          <p:spPr>
            <a:xfrm rot="5400000">
              <a:off x="3306" y="3174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2" name="Google Shape;372;p28"/>
            <p:cNvCxnSpPr/>
            <p:nvPr/>
          </p:nvCxnSpPr>
          <p:spPr>
            <a:xfrm rot="5400000">
              <a:off x="364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3" name="Google Shape;373;p28"/>
            <p:cNvCxnSpPr/>
            <p:nvPr/>
          </p:nvCxnSpPr>
          <p:spPr>
            <a:xfrm rot="5400000">
              <a:off x="383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4" name="Google Shape;374;p28"/>
            <p:cNvSpPr txBox="1"/>
            <p:nvPr/>
          </p:nvSpPr>
          <p:spPr>
            <a:xfrm>
              <a:off x="3648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8"/>
            <p:cNvSpPr txBox="1"/>
            <p:nvPr/>
          </p:nvSpPr>
          <p:spPr>
            <a:xfrm>
              <a:off x="384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76" name="Google Shape;376;p28"/>
            <p:cNvCxnSpPr/>
            <p:nvPr/>
          </p:nvCxnSpPr>
          <p:spPr>
            <a:xfrm rot="5400000">
              <a:off x="2202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77" name="Google Shape;377;p28"/>
            <p:cNvCxnSpPr/>
            <p:nvPr/>
          </p:nvCxnSpPr>
          <p:spPr>
            <a:xfrm rot="5400000">
              <a:off x="2394" y="2262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8" name="Google Shape;378;p28"/>
            <p:cNvSpPr txBox="1"/>
            <p:nvPr/>
          </p:nvSpPr>
          <p:spPr>
            <a:xfrm>
              <a:off x="2160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9" name="Google Shape;379;p28"/>
            <p:cNvSpPr txBox="1"/>
            <p:nvPr/>
          </p:nvSpPr>
          <p:spPr>
            <a:xfrm>
              <a:off x="2352" y="18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r>
                <a:rPr b="1" baseline="-25000" lang="en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80" name="Google Shape;380;p28"/>
          <p:cNvCxnSpPr/>
          <p:nvPr/>
        </p:nvCxnSpPr>
        <p:spPr>
          <a:xfrm rot="5400000">
            <a:off x="3785211" y="4073528"/>
            <a:ext cx="4500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88" name="Google Shape;388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9" name="Google Shape;389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9"/>
          <p:cNvSpPr txBox="1"/>
          <p:nvPr/>
        </p:nvSpPr>
        <p:spPr>
          <a:xfrm>
            <a:off x="328350" y="766838"/>
            <a:ext cx="8630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requires: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XOR gates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3097213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7" name="Google Shape;397;p29"/>
          <p:cNvCxnSpPr/>
          <p:nvPr/>
        </p:nvCxnSpPr>
        <p:spPr>
          <a:xfrm>
            <a:off x="3097213" y="1643450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flipH="1" rot="10800000">
            <a:off x="3097213" y="2229625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p29"/>
          <p:cNvSpPr/>
          <p:nvPr/>
        </p:nvSpPr>
        <p:spPr>
          <a:xfrm>
            <a:off x="3367088" y="1643450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9"/>
          <p:cNvSpPr/>
          <p:nvPr/>
        </p:nvSpPr>
        <p:spPr>
          <a:xfrm flipH="1" rot="10800000">
            <a:off x="3367088" y="1910213"/>
            <a:ext cx="486918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3022600" y="1643450"/>
            <a:ext cx="107442" cy="586359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2" name="Google Shape;402;p29"/>
          <p:cNvCxnSpPr/>
          <p:nvPr/>
        </p:nvCxnSpPr>
        <p:spPr>
          <a:xfrm>
            <a:off x="2641600" y="1795850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>
            <a:off x="2641600" y="2100650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" name="Google Shape;404;p29"/>
          <p:cNvSpPr txBox="1"/>
          <p:nvPr/>
        </p:nvSpPr>
        <p:spPr>
          <a:xfrm>
            <a:off x="1911350" y="1916500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0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9"/>
          <p:cNvSpPr txBox="1"/>
          <p:nvPr/>
        </p:nvSpPr>
        <p:spPr>
          <a:xfrm>
            <a:off x="3860800" y="1567250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9"/>
          <p:cNvSpPr txBox="1"/>
          <p:nvPr/>
        </p:nvSpPr>
        <p:spPr>
          <a:xfrm>
            <a:off x="2368550" y="1591062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7" name="Google Shape;407;p29"/>
          <p:cNvCxnSpPr/>
          <p:nvPr/>
        </p:nvCxnSpPr>
        <p:spPr>
          <a:xfrm>
            <a:off x="3841750" y="1927612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8" name="Google Shape;408;p29"/>
          <p:cNvSpPr/>
          <p:nvPr/>
        </p:nvSpPr>
        <p:spPr>
          <a:xfrm>
            <a:off x="6429613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6429613" y="1644525"/>
            <a:ext cx="278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29"/>
          <p:cNvCxnSpPr/>
          <p:nvPr/>
        </p:nvCxnSpPr>
        <p:spPr>
          <a:xfrm flipH="1" rot="10800000">
            <a:off x="6429613" y="2230700"/>
            <a:ext cx="275700" cy="12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29"/>
          <p:cNvSpPr/>
          <p:nvPr/>
        </p:nvSpPr>
        <p:spPr>
          <a:xfrm>
            <a:off x="6699488" y="1644525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9"/>
          <p:cNvSpPr/>
          <p:nvPr/>
        </p:nvSpPr>
        <p:spPr>
          <a:xfrm flipH="1" rot="10800000">
            <a:off x="6699488" y="1911289"/>
            <a:ext cx="486919" cy="320611"/>
          </a:xfrm>
          <a:custGeom>
            <a:rect b="b" l="l" r="r" t="t"/>
            <a:pathLst>
              <a:path extrusionOk="0" h="432" w="576">
                <a:moveTo>
                  <a:pt x="0" y="0"/>
                </a:moveTo>
                <a:cubicBezTo>
                  <a:pt x="168" y="36"/>
                  <a:pt x="336" y="72"/>
                  <a:pt x="432" y="144"/>
                </a:cubicBezTo>
                <a:cubicBezTo>
                  <a:pt x="528" y="216"/>
                  <a:pt x="552" y="324"/>
                  <a:pt x="576" y="432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355000" y="1644525"/>
            <a:ext cx="107442" cy="586358"/>
          </a:xfrm>
          <a:custGeom>
            <a:rect b="b" l="l" r="r" t="t"/>
            <a:pathLst>
              <a:path extrusionOk="0" h="864" w="288">
                <a:moveTo>
                  <a:pt x="0" y="0"/>
                </a:moveTo>
                <a:cubicBezTo>
                  <a:pt x="144" y="144"/>
                  <a:pt x="288" y="288"/>
                  <a:pt x="288" y="432"/>
                </a:cubicBezTo>
                <a:cubicBezTo>
                  <a:pt x="288" y="576"/>
                  <a:pt x="48" y="792"/>
                  <a:pt x="0" y="864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4" name="Google Shape;414;p29"/>
          <p:cNvCxnSpPr/>
          <p:nvPr/>
        </p:nvCxnSpPr>
        <p:spPr>
          <a:xfrm>
            <a:off x="5974000" y="1796925"/>
            <a:ext cx="45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29"/>
          <p:cNvCxnSpPr/>
          <p:nvPr/>
        </p:nvCxnSpPr>
        <p:spPr>
          <a:xfrm>
            <a:off x="5974000" y="2101725"/>
            <a:ext cx="4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29"/>
          <p:cNvSpPr txBox="1"/>
          <p:nvPr/>
        </p:nvSpPr>
        <p:spPr>
          <a:xfrm>
            <a:off x="5243750" y="1917575"/>
            <a:ext cx="95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= 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9"/>
          <p:cNvSpPr txBox="1"/>
          <p:nvPr/>
        </p:nvSpPr>
        <p:spPr>
          <a:xfrm>
            <a:off x="7193200" y="1568325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="1" lang="en" sz="1800">
                <a:latin typeface="Lexend"/>
                <a:ea typeface="Lexend"/>
                <a:cs typeface="Lexend"/>
                <a:sym typeface="Lexend"/>
              </a:rPr>
              <a:t>’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5700950" y="1592137"/>
            <a:ext cx="4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9"/>
          <p:cNvCxnSpPr/>
          <p:nvPr/>
        </p:nvCxnSpPr>
        <p:spPr>
          <a:xfrm>
            <a:off x="7174150" y="1928687"/>
            <a:ext cx="47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0" name="Google Shape;420;p29"/>
          <p:cNvSpPr txBox="1"/>
          <p:nvPr/>
        </p:nvSpPr>
        <p:spPr>
          <a:xfrm>
            <a:off x="256650" y="2308138"/>
            <a:ext cx="8630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that: output = Y when S=0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			           = Y' when S=1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 connected to carry-in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1" name="Google Shape;421;p29"/>
          <p:cNvGraphicFramePr/>
          <p:nvPr/>
        </p:nvGraphicFramePr>
        <p:xfrm>
          <a:off x="6013350" y="3143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{58443B8C-68BD-4D94-8C5B-A7ED5BE2F9B1}</a:tableStyleId>
              </a:tblPr>
              <a:tblGrid>
                <a:gridCol w="886000"/>
                <a:gridCol w="886000"/>
                <a:gridCol w="8860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S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Y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Output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7" name="Google Shape;4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29" name="Google Shape;429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0" name="Google Shape;430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4-bit Parallel Adder-Subtractor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328350" y="766838"/>
            <a:ext cx="86307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Adder cum subtractor circuit: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Analysis: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=1, then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(1's complement of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+1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 the result.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=0, then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appears as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result. 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37" name="Google Shape;437;p30" title="260_new_Slides-Overflow Detector.drawi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0" y="1198450"/>
            <a:ext cx="5211150" cy="373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3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902675"/>
            <a:ext cx="236585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44" name="Google Shape;44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46" name="Google Shape;446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7" name="Google Shape;447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328350" y="766838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Applications: Condition Based Adder Subtractor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circuit that takes two binary number A, B and performs A-B, if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certain condition is met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else perform A+B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Methods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Brute Force Approach: Find the minterms and use the SOP(s) directly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Smart Approach: Find existing patterns within the SOP(s)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61" name="Google Shape;461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2" name="Google Shape;462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32"/>
          <p:cNvSpPr txBox="1"/>
          <p:nvPr/>
        </p:nvSpPr>
        <p:spPr>
          <a:xfrm>
            <a:off x="328350" y="766838"/>
            <a:ext cx="8630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calculator that can add or subtract two 4-bit numbers: X and Y. Now, if both of the numbers are greater than or equal to 8, then the calculator will do the operation X+Y (addition). Otherwise, the calculator will do the operation X-Y(subtraction).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circuit using a 4-bit parallel adder-subtractor.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9" name="Google Shape;4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2200" y="1379650"/>
            <a:ext cx="4120302" cy="3504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77" name="Google Shape;477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8" name="Google Shape;478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1" name="Google Shape;481;p3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Brute Force Approach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5543675" y="1332750"/>
            <a:ext cx="36006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Only the numbers 0 and 12 are divisible by 12 among all 4-bit numbers, So the following expression will solve the problem,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F(B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=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 +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'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number of minterm increases, you may use KMAP to simplify the circuit.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CECEC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6" name="Google Shape;486;p33"/>
          <p:cNvGraphicFramePr/>
          <p:nvPr/>
        </p:nvGraphicFramePr>
        <p:xfrm>
          <a:off x="5788700" y="1300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{58443B8C-68BD-4D94-8C5B-A7ED5BE2F9B1}</a:tableStyleId>
              </a:tblPr>
              <a:tblGrid>
                <a:gridCol w="1314300"/>
                <a:gridCol w="1314300"/>
              </a:tblGrid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Minterm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Product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7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12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3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2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’B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r>
                        <a:rPr lang="en" sz="17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’</a:t>
                      </a:r>
                      <a:endParaRPr sz="16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87" name="Google Shape;487;p33" title="brute 32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73" y="1190675"/>
            <a:ext cx="4859425" cy="369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95" name="Google Shape;495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6" name="Google Shape;496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9" name="Google Shape;499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Divisible by 12 using Patterns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5566625" y="1332750"/>
            <a:ext cx="3577500" cy="318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Possible combinations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among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B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 00 and 11,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XNOR gate was used to combine them as only XNOR gate will provide 1 for these two unique combinations. NOR gate was used for latter variables for the same reason.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Finally, combining them with AND gate ensures the output of the AND gate will only be 1 if the current combination is indeed divisible by 12. If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receives 1 then it will perform A-B.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04" name="Google Shape;504;p34" title="DIv by 12 pattern-Overflow Detector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200" y="1199600"/>
            <a:ext cx="5353650" cy="368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0" name="Google Shape;5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12" name="Google Shape;512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3" name="Google Shape;513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35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(Cont)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1188650" y="3198775"/>
            <a:ext cx="6092400" cy="16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solution is simulated for both valid combinations who are divisible by 12, 0000 and 1100. The red circled elements indicate that the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intermediary gates cannot mismatch, any mismatch in those circled outputs means that the current combination is not divisible by 12 and the final output will give 0 which will result in C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being 0 hence, performing A+B likewise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1" name="Google Shape;521;p35" title="div 12 11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1575" y="1197050"/>
            <a:ext cx="4317475" cy="21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5" title="div 12 00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325" y="1166925"/>
            <a:ext cx="4120624" cy="21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8" name="Google Shape;5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30" name="Google Shape;530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31" name="Google Shape;531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279575" y="766850"/>
            <a:ext cx="867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A-B, if B is Divisible by 12 using Patterns (Alternate Solution)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1188650" y="3974450"/>
            <a:ext cx="60924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alternate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different logic gates also fulfill the same logic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39" name="Google Shape;539;p36" title="div 12 00 alt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25" y="1212099"/>
            <a:ext cx="4476976" cy="232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6" title="div 12 11 alt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500" y="1314475"/>
            <a:ext cx="4245300" cy="22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6" name="Google Shape;54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48" name="Google Shape;548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9" name="Google Shape;549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Larger parallel adders can be built from smaller ones.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a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constructed from four 4-bit parallel adders: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6" name="Google Shape;556;p37" title="16 bit pa.drawio.png"/>
          <p:cNvPicPr preferRelativeResize="0"/>
          <p:nvPr/>
        </p:nvPicPr>
        <p:blipFill rotWithShape="1">
          <a:blip r:embed="rId4">
            <a:alphaModFix/>
          </a:blip>
          <a:srcRect b="0" l="0" r="0" t="14163"/>
          <a:stretch/>
        </p:blipFill>
        <p:spPr>
          <a:xfrm>
            <a:off x="497100" y="2233350"/>
            <a:ext cx="8149801" cy="25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7"/>
          <p:cNvSpPr txBox="1"/>
          <p:nvPr/>
        </p:nvSpPr>
        <p:spPr>
          <a:xfrm>
            <a:off x="116920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8" name="Google Shape;558;p37"/>
          <p:cNvSpPr txBox="1"/>
          <p:nvPr/>
        </p:nvSpPr>
        <p:spPr>
          <a:xfrm>
            <a:off x="2907525" y="1891325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7"/>
          <p:cNvSpPr txBox="1"/>
          <p:nvPr/>
        </p:nvSpPr>
        <p:spPr>
          <a:xfrm>
            <a:off x="4645850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37"/>
          <p:cNvSpPr txBox="1"/>
          <p:nvPr/>
        </p:nvSpPr>
        <p:spPr>
          <a:xfrm>
            <a:off x="6384175" y="1908000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…X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37"/>
          <p:cNvSpPr txBox="1"/>
          <p:nvPr/>
        </p:nvSpPr>
        <p:spPr>
          <a:xfrm>
            <a:off x="188596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3624288" y="1899663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37"/>
          <p:cNvSpPr txBox="1"/>
          <p:nvPr/>
        </p:nvSpPr>
        <p:spPr>
          <a:xfrm>
            <a:off x="5362613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37"/>
          <p:cNvSpPr txBox="1"/>
          <p:nvPr/>
        </p:nvSpPr>
        <p:spPr>
          <a:xfrm>
            <a:off x="7100938" y="1916338"/>
            <a:ext cx="97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…Y</a:t>
            </a:r>
            <a:r>
              <a:rPr baseline="-25000" i="1" lang="en" sz="15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baseline="-25000" i="1" sz="15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72" name="Google Shape;572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3" name="Google Shape;573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6" name="Google Shape;576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38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Shorten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notation for multiple lines.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16-bit parallel adder ripples carry from one 4-bit block to the next.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Such ripple-carry circuits are “slow” because of long delays needed to propagate the carries.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0" name="Google Shape;580;p38"/>
          <p:cNvCxnSpPr/>
          <p:nvPr/>
        </p:nvCxnSpPr>
        <p:spPr>
          <a:xfrm>
            <a:off x="2857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1" name="Google Shape;581;p38"/>
          <p:cNvCxnSpPr/>
          <p:nvPr/>
        </p:nvCxnSpPr>
        <p:spPr>
          <a:xfrm flipH="1">
            <a:off x="2628900" y="15404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2" name="Google Shape;582;p38"/>
          <p:cNvSpPr txBox="1"/>
          <p:nvPr/>
        </p:nvSpPr>
        <p:spPr>
          <a:xfrm>
            <a:off x="2833687" y="1530925"/>
            <a:ext cx="3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8"/>
          <p:cNvSpPr txBox="1"/>
          <p:nvPr/>
        </p:nvSpPr>
        <p:spPr>
          <a:xfrm>
            <a:off x="2324100" y="2226250"/>
            <a:ext cx="114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..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38"/>
          <p:cNvCxnSpPr/>
          <p:nvPr/>
        </p:nvCxnSpPr>
        <p:spPr>
          <a:xfrm>
            <a:off x="56007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5" name="Google Shape;585;p38"/>
          <p:cNvCxnSpPr/>
          <p:nvPr/>
        </p:nvCxnSpPr>
        <p:spPr>
          <a:xfrm>
            <a:off x="59055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6" name="Google Shape;586;p38"/>
          <p:cNvCxnSpPr/>
          <p:nvPr/>
        </p:nvCxnSpPr>
        <p:spPr>
          <a:xfrm>
            <a:off x="65151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87" name="Google Shape;587;p38"/>
          <p:cNvCxnSpPr/>
          <p:nvPr/>
        </p:nvCxnSpPr>
        <p:spPr>
          <a:xfrm>
            <a:off x="6210300" y="131185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8" name="Google Shape;588;p38"/>
          <p:cNvSpPr txBox="1"/>
          <p:nvPr/>
        </p:nvSpPr>
        <p:spPr>
          <a:xfrm>
            <a:off x="5372100" y="2302450"/>
            <a:ext cx="144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3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2</a:t>
            </a:r>
            <a:r>
              <a:rPr b="1" baseline="-2500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lang="en" sz="2000"/>
              <a:t>1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b="1" baseline="-25000" lang="en" sz="2000"/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3467100" y="1464250"/>
            <a:ext cx="190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shortened notation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5" name="Google Shape;595;p39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901673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96" name="Google Shape;59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98" name="Google Shape;598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9" name="Google Shape;599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39"/>
          <p:cNvSpPr txBox="1"/>
          <p:nvPr/>
        </p:nvSpPr>
        <p:spPr>
          <a:xfrm>
            <a:off x="209775" y="1637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Arithmetic Circuits: Cascading Adders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39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Application: 6-person voting system.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FAs and a 4-bit binary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FA can sum up to 3 votes.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6" name="Google Shape;606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4161" y="1936550"/>
            <a:ext cx="4955686" cy="28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594701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13" name="Google Shape;6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15" name="Google Shape;615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6" name="Google Shape;616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40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2" name="Google Shape;622;p40"/>
          <p:cNvSpPr txBox="1"/>
          <p:nvPr/>
        </p:nvSpPr>
        <p:spPr>
          <a:xfrm>
            <a:off x="328350" y="766838"/>
            <a:ext cx="8630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 Using Full adders and 4 Bit Parallel Adder,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13 person voting system, your circuit must be efficient.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14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Half Adder and 4 Bit Parallel Adder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10 person voting system. Your circuit must be efficient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41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793602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29" name="Google Shape;6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1" name="Google Shape;631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2" name="Google Shape;632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5" name="Google Shape;635;p41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of 1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6" name="Google Shape;636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41"/>
          <p:cNvSpPr txBox="1"/>
          <p:nvPr/>
        </p:nvSpPr>
        <p:spPr>
          <a:xfrm>
            <a:off x="328350" y="766838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 12 person voting system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9" name="Google Shape;63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5039" y="1259450"/>
            <a:ext cx="4733924" cy="358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5" name="Google Shape;645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242826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6" name="Google Shape;6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48" name="Google Shape;648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9" name="Google Shape;649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2" name="Google Shape;652;p42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2"/>
          <p:cNvSpPr txBox="1"/>
          <p:nvPr/>
        </p:nvSpPr>
        <p:spPr>
          <a:xfrm>
            <a:off x="328350" y="766838"/>
            <a:ext cx="8630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Think: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code converter that will take 4 bit BCD code as input and generate the Excess 3 output using 4 bit parallel adder.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1" name="Google Shape;661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62" name="Google Shape;66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64" name="Google Shape;664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5" name="Google Shape;665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43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3"/>
          <p:cNvSpPr txBox="1"/>
          <p:nvPr/>
        </p:nvSpPr>
        <p:spPr>
          <a:xfrm>
            <a:off x="328350" y="766838"/>
            <a:ext cx="8630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Inspection of truth table of ‘excess 3 from BCD’ shows that we can get excess-3 code from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adding ‘0011’ to each BCD number. This addition can be implemented by means of 4-bit full adder MSI circuit.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4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49000"/>
            <a:ext cx="1617175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8" name="Google Shape;67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80" name="Google Shape;680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1" name="Google Shape;681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4"/>
          <p:cNvSpPr txBox="1"/>
          <p:nvPr/>
        </p:nvSpPr>
        <p:spPr>
          <a:xfrm>
            <a:off x="209775" y="163775"/>
            <a:ext cx="9045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BCD to excess 3 code converter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44"/>
          <p:cNvSpPr txBox="1"/>
          <p:nvPr/>
        </p:nvSpPr>
        <p:spPr>
          <a:xfrm>
            <a:off x="328350" y="766838"/>
            <a:ext cx="863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Let, ABCD as BCD input and WXYZ as Excess 3 output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88" name="Google Shape;688;p44" title="260_new_Slides-Overflow Detector.drawio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013" y="1543375"/>
            <a:ext cx="3209971" cy="33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4" name="Google Shape;694;p45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3409525"/>
            <a:ext cx="1946599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95" name="Google Shape;6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7" name="Google Shape;697;p45"/>
          <p:cNvSpPr txBox="1"/>
          <p:nvPr/>
        </p:nvSpPr>
        <p:spPr>
          <a:xfrm>
            <a:off x="2566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converters – take an input code, translate to its equivalent output code.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8" name="Google Shape;698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9" name="Google Shape;699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2" name="Google Shape;702;p4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Code Converters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3" name="Google Shape;703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4" name="Google Shape;704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5"/>
          <p:cNvGrpSpPr/>
          <p:nvPr/>
        </p:nvGrpSpPr>
        <p:grpSpPr>
          <a:xfrm>
            <a:off x="2000250" y="1891850"/>
            <a:ext cx="5143500" cy="952500"/>
            <a:chOff x="1536" y="1728"/>
            <a:chExt cx="3240" cy="600"/>
          </a:xfrm>
        </p:grpSpPr>
        <p:sp>
          <p:nvSpPr>
            <p:cNvPr id="706" name="Google Shape;706;p45"/>
            <p:cNvSpPr txBox="1"/>
            <p:nvPr/>
          </p:nvSpPr>
          <p:spPr>
            <a:xfrm>
              <a:off x="2640" y="1728"/>
              <a:ext cx="900" cy="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p45"/>
            <p:cNvSpPr txBox="1"/>
            <p:nvPr/>
          </p:nvSpPr>
          <p:spPr>
            <a:xfrm>
              <a:off x="2688" y="182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converter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08" name="Google Shape;708;p45"/>
            <p:cNvCxnSpPr/>
            <p:nvPr/>
          </p:nvCxnSpPr>
          <p:spPr>
            <a:xfrm>
              <a:off x="2064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09" name="Google Shape;709;p45"/>
            <p:cNvCxnSpPr/>
            <p:nvPr/>
          </p:nvCxnSpPr>
          <p:spPr>
            <a:xfrm>
              <a:off x="2064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0" name="Google Shape;710;p45"/>
            <p:cNvSpPr txBox="1"/>
            <p:nvPr/>
          </p:nvSpPr>
          <p:spPr>
            <a:xfrm>
              <a:off x="153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Input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1" name="Google Shape;711;p45"/>
            <p:cNvCxnSpPr/>
            <p:nvPr/>
          </p:nvCxnSpPr>
          <p:spPr>
            <a:xfrm>
              <a:off x="2064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2" name="Google Shape;712;p45"/>
            <p:cNvCxnSpPr/>
            <p:nvPr/>
          </p:nvCxnSpPr>
          <p:spPr>
            <a:xfrm>
              <a:off x="2064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3" name="Google Shape;713;p45"/>
            <p:cNvCxnSpPr/>
            <p:nvPr/>
          </p:nvCxnSpPr>
          <p:spPr>
            <a:xfrm>
              <a:off x="3552" y="1824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4" name="Google Shape;714;p45"/>
            <p:cNvCxnSpPr/>
            <p:nvPr/>
          </p:nvCxnSpPr>
          <p:spPr>
            <a:xfrm>
              <a:off x="3552" y="1968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15" name="Google Shape;715;p45"/>
            <p:cNvSpPr txBox="1"/>
            <p:nvPr/>
          </p:nvSpPr>
          <p:spPr>
            <a:xfrm>
              <a:off x="4176" y="187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Output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code</a:t>
              </a:r>
              <a:endParaRPr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16" name="Google Shape;716;p45"/>
            <p:cNvCxnSpPr/>
            <p:nvPr/>
          </p:nvCxnSpPr>
          <p:spPr>
            <a:xfrm>
              <a:off x="3552" y="2112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17" name="Google Shape;717;p45"/>
            <p:cNvCxnSpPr/>
            <p:nvPr/>
          </p:nvCxnSpPr>
          <p:spPr>
            <a:xfrm>
              <a:off x="3552" y="2256"/>
              <a:ext cx="6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18" name="Google Shape;718;p45"/>
          <p:cNvSpPr txBox="1"/>
          <p:nvPr/>
        </p:nvSpPr>
        <p:spPr>
          <a:xfrm>
            <a:off x="256650" y="3308025"/>
            <a:ext cx="8630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BCD to Excess-3 Code Converter.</a:t>
            </a:r>
            <a:endParaRPr sz="20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Input: BCD digit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Output: Excess-3 digit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6"/>
          <p:cNvSpPr/>
          <p:nvPr/>
        </p:nvSpPr>
        <p:spPr>
          <a:xfrm>
            <a:off x="0" y="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6" name="Google Shape;726;p46"/>
          <p:cNvSpPr txBox="1"/>
          <p:nvPr/>
        </p:nvSpPr>
        <p:spPr>
          <a:xfrm>
            <a:off x="328350" y="830863"/>
            <a:ext cx="86307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 overflow condition can be detected by observing the carry into the sign bit position (C3) and the carry out of the sign bit position (C4).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these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carries are not equal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, an overflow has occurred.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two carries are applied to an exclusive-OR gate(XOR), an overflow is detected when the output(V) of the XOR gate is equal to 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7" name="Google Shape;727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8" name="Google Shape;728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46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46"/>
          <p:cNvSpPr txBox="1"/>
          <p:nvPr/>
        </p:nvSpPr>
        <p:spPr>
          <a:xfrm>
            <a:off x="39507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0 1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+7		 0 111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+6		 0 110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+48		 </a:t>
            </a:r>
            <a:r>
              <a:rPr lang="en" sz="1800">
                <a:solidFill>
                  <a:srgbClr val="FF0000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101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2491812" y="2832475"/>
            <a:ext cx="17424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-7		1 001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-6		1 010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-13		</a:t>
            </a:r>
            <a:r>
              <a:rPr lang="en" sz="1800">
                <a:solidFill>
                  <a:srgbClr val="FF0000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4500625" y="2832475"/>
            <a:ext cx="1821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1	1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-3		1 101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1 110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-5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011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6622025" y="2832475"/>
            <a:ext cx="1779600" cy="1547700"/>
          </a:xfrm>
          <a:prstGeom prst="rect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Carry:  </a:t>
            </a:r>
            <a:r>
              <a:rPr lang="en" sz="1800">
                <a:solidFill>
                  <a:srgbClr val="FF0000"/>
                </a:solidFill>
              </a:rPr>
              <a:t>0	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+2		0 010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- 4		1 100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____	_____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-2		</a:t>
            </a:r>
            <a:r>
              <a:rPr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110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8" name="Google Shape;738;p46"/>
          <p:cNvSpPr txBox="1"/>
          <p:nvPr/>
        </p:nvSpPr>
        <p:spPr>
          <a:xfrm>
            <a:off x="642425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2787150" y="4380175"/>
            <a:ext cx="114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Overflow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4645299" y="4380175"/>
            <a:ext cx="174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1" name="Google Shape;741;p46"/>
          <p:cNvSpPr txBox="1"/>
          <p:nvPr/>
        </p:nvSpPr>
        <p:spPr>
          <a:xfrm>
            <a:off x="6761375" y="4380175"/>
            <a:ext cx="150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Overflow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/>
          <p:nvPr/>
        </p:nvSpPr>
        <p:spPr>
          <a:xfrm>
            <a:off x="-3264" y="328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9" name="Google Shape;749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0" name="Google Shape;750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47"/>
          <p:cNvSpPr txBox="1"/>
          <p:nvPr/>
        </p:nvSpPr>
        <p:spPr>
          <a:xfrm>
            <a:off x="194750" y="122875"/>
            <a:ext cx="9045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Overflow Detection [Self Study]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7"/>
          <p:cNvSpPr txBox="1"/>
          <p:nvPr/>
        </p:nvSpPr>
        <p:spPr>
          <a:xfrm>
            <a:off x="1212675" y="4477950"/>
            <a:ext cx="684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Figure: 4-bit Adder-Subtractor with Overflow Detection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7" name="Google Shape;757;p47" title="260_new_Slides-Overflow Detector.drawi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500" y="639425"/>
            <a:ext cx="7087498" cy="390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7"/>
          <p:cNvSpPr/>
          <p:nvPr/>
        </p:nvSpPr>
        <p:spPr>
          <a:xfrm>
            <a:off x="25643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378717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47"/>
          <p:cNvSpPr/>
          <p:nvPr/>
        </p:nvSpPr>
        <p:spPr>
          <a:xfrm>
            <a:off x="5010025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6197400" y="3087450"/>
            <a:ext cx="548700" cy="51420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latin typeface="Lexend"/>
                <a:ea typeface="Lexend"/>
                <a:cs typeface="Lexend"/>
                <a:sym typeface="Lexend"/>
              </a:rPr>
              <a:t>Full Adder</a:t>
            </a:r>
            <a:endParaRPr b="1" i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